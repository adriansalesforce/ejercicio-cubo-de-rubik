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Space Grotesk"/>
      <ns0:bold ns1:id="rIdFont19"/>
      <ns0:regular ns1:id="rIdFont20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eefccf72-3d03-420a-b665-027a9c31ee52.fntdata" /><ns0:Relationship Id="rIdFont20" Type="http://schemas.openxmlformats.org/officeDocument/2006/relationships/font" Target="fonts/2741748d-117e-4dbb-810e-ac1496d6649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1500" y="2212776"/>
            <a:ext cx="3429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3B82F6"/>
                </a:solidFill>
                <a:latin typeface="Space Grotesk"/>
              </a:rPr>
              <a:t>PROYECTO CUBO DE RUBIK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0296" y="2612826"/>
            <a:ext cx="11251406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Space Grotesk"/>
              </a:rPr>
              <a:t>Solucionador del Pocket Cube 2x2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93218" y="4349948"/>
            <a:ext cx="640556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64748B"/>
                </a:solidFill>
                <a:latin typeface="Space Grotesk"/>
              </a:rPr>
              <a:t>Codigo desarrollado por GPT6 bajo supervision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0" y="329088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0" y="3814762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433863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055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75" y="2857500"/>
            <a:ext cx="142875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314575"/>
            <a:ext cx="53340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¿Que es esto?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24700" y="3200400"/>
            <a:ext cx="46672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Space Grotesk"/>
              </a:rPr>
              <a:t>Version pequeña del cubo normal.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4700" y="3724275"/>
            <a:ext cx="372665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Space Grotesk"/>
              </a:rPr>
              <a:t>No tiene centros ni aristas.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4700" y="4248150"/>
            <a:ext cx="40838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Space Grotesk"/>
              </a:rPr>
              <a:t>No memoriza soluciones fijas.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52500" y="1571625"/>
            <a:ext cx="762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2500" y="3138487"/>
            <a:ext cx="3225849" cy="2038350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83149" y="3138487"/>
            <a:ext cx="3225849" cy="2038350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13799" y="3138487"/>
            <a:ext cx="3225849" cy="2038350"/>
          </a:xfrm>
          <a:prstGeom prst="roundRect">
            <a:avLst>
              <a:gd name="adj" fmla="val 74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3519487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149" y="3519487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799" y="3519487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52500" y="762000"/>
            <a:ext cx="11239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Representacion del cubo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500" y="4052887"/>
            <a:ext cx="323380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8 Esquinas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3500" y="4548187"/>
            <a:ext cx="30798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Space Grotesk"/>
              </a:rPr>
              <a:t>Piezas unicas a seguir.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149" y="4052887"/>
            <a:ext cx="323380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Permutacion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149" y="4548187"/>
            <a:ext cx="30798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Space Grotesk"/>
              </a:rPr>
              <a:t>Posicion de cada pieza.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799" y="4052887"/>
            <a:ext cx="323380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Orientacion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799" y="4548187"/>
            <a:ext cx="307981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Space Grotesk"/>
              </a:rPr>
              <a:t>Nivel de giro individual.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7055" y="2228850"/>
            <a:ext cx="9297739" cy="1809750"/>
          </a:xfrm>
          <a:prstGeom prst="roundRect">
            <a:avLst>
              <a:gd name="adj" fmla="val 1263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38662" y="1619250"/>
            <a:ext cx="408801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64748B"/>
                </a:solidFill>
                <a:latin typeface="Space Grotesk"/>
              </a:rPr>
              <a:t>TRUCO MATEMATICO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5287" y="4495800"/>
            <a:ext cx="472678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Space Grotesk"/>
              </a:rPr>
              <a:t>La octava esquina se deduce sola.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81350" y="4943475"/>
            <a:ext cx="728662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Space Grotesk"/>
              </a:rPr>
              <a:t>Lo cual lo hace mas sencillo y gasta menos memoria.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7338" y="2686050"/>
            <a:ext cx="9717174" cy="895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3B82F6"/>
                </a:solidFill>
                <a:latin typeface="monospace"/>
              </a:rPr>
              <a:t>sum(ori) % 3 ==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1704975"/>
            <a:ext cx="10287000" cy="752475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2500" y="2686050"/>
            <a:ext cx="10287000" cy="752475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2500" y="3667125"/>
            <a:ext cx="10287000" cy="752475"/>
          </a:xfrm>
          <a:prstGeom prst="roundRect">
            <a:avLst>
              <a:gd name="adj" fmla="val 151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500" y="1704975"/>
            <a:ext cx="57150" cy="7524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2500" y="2686050"/>
            <a:ext cx="57150" cy="7524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2500" y="3667125"/>
            <a:ext cx="57150" cy="7524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762000"/>
            <a:ext cx="11239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¿Como movemos el cubo?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1933575"/>
            <a:ext cx="23812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18 Opciones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43250" y="1947862"/>
            <a:ext cx="541734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Space Grotesk"/>
              </a:rPr>
              <a:t>U, R, F, D, L, B y sus giros inversos o dobles.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8250" y="2914650"/>
            <a:ext cx="23812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Tablas internas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3250" y="2928937"/>
            <a:ext cx="64055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Space Grotesk"/>
              </a:rPr>
              <a:t>source_for_dest dicta de donde viene cada pieza.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8250" y="3895725"/>
            <a:ext cx="23812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Calculo directo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3250" y="3910012"/>
            <a:ext cx="6691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475569"/>
                </a:solidFill>
                <a:latin typeface="Space Grotesk"/>
              </a:rPr>
              <a:t>Miro la tabla para saber donde acaba cada pegatina.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3100387"/>
            <a:ext cx="2390775" cy="1600200"/>
          </a:xfrm>
          <a:prstGeom prst="roundRect">
            <a:avLst>
              <a:gd name="adj" fmla="val 952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571875" y="3100387"/>
            <a:ext cx="2390775" cy="1600200"/>
          </a:xfrm>
          <a:prstGeom prst="roundRect">
            <a:avLst>
              <a:gd name="adj" fmla="val 952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00387"/>
            <a:ext cx="2390775" cy="1600200"/>
          </a:xfrm>
          <a:prstGeom prst="roundRect">
            <a:avLst>
              <a:gd name="adj" fmla="val 9523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810625" y="3205162"/>
            <a:ext cx="2428875" cy="1390650"/>
          </a:xfrm>
          <a:prstGeom prst="roundRect">
            <a:avLst>
              <a:gd name="adj" fmla="val 10958"/>
            </a:avLst>
          </a:prstGeom>
          <a:solidFill>
            <a:srgbClr val="F0FDF4"/>
          </a:solidFill>
          <a:ln w="1905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762000"/>
            <a:ext cx="11239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Algoritmos descartados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7300" y="3405187"/>
            <a:ext cx="233779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F4444"/>
                </a:solidFill>
                <a:latin typeface="Space Grotesk"/>
              </a:rPr>
              <a:t>BFS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300" y="3900487"/>
            <a:ext cx="18764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Space Grotesk"/>
              </a:rPr>
              <a:t>Consume demasiada 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6675" y="3405187"/>
            <a:ext cx="233779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F4444"/>
                </a:solidFill>
                <a:latin typeface="Space Grotesk"/>
              </a:rPr>
              <a:t>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6675" y="3900487"/>
            <a:ext cx="18764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Space Grotesk"/>
              </a:rPr>
              <a:t>Se pierde en caminos malos.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3405187"/>
            <a:ext cx="233779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F4444"/>
                </a:solidFill>
                <a:latin typeface="Space Grotesk"/>
              </a:rPr>
              <a:t>A*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3900487"/>
            <a:ext cx="18764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Space Grotesk"/>
              </a:rPr>
              <a:t>Frontera de nodos enorme.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34475" y="3529012"/>
            <a:ext cx="233779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IDA*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4475" y="4024312"/>
            <a:ext cx="222646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Space Grotesk"/>
              </a:rPr>
              <a:t>Equilibrio perfecto.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86500" y="0"/>
            <a:ext cx="5905500" cy="6858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048500" y="2424112"/>
            <a:ext cx="4381500" cy="2009775"/>
          </a:xfrm>
          <a:prstGeom prst="roundRect">
            <a:avLst>
              <a:gd name="adj" fmla="val 113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968055"/>
            <a:ext cx="171450" cy="200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463355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4958655"/>
            <a:ext cx="171450" cy="2000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1685032"/>
            <a:ext cx="4700587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La busqueda elegida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63192"/>
            <a:ext cx="54768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Space Grotesk"/>
              </a:rPr>
              <a:t>Evitamos probar rutas a lo loco.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6350" y="3915667"/>
            <a:ext cx="41529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Umbrales:</a:t>
            </a:r>
            <a:r>
              <a:rPr b="1" sz="1650" i="0" u="none">
                <a:solidFill>
                  <a:srgbClr val="0F172A"/>
                </a:solidFill>
                <a:latin typeface="Space Grotesk"/>
              </a:rPr>
              <a:t> Limite creciente de coste.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6350" y="4410967"/>
            <a:ext cx="41529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Memoria:</a:t>
            </a:r>
            <a:r>
              <a:rPr b="1" sz="1650" i="0" u="none">
                <a:solidFill>
                  <a:srgbClr val="0F172A"/>
                </a:solidFill>
                <a:latin typeface="Space Grotesk"/>
              </a:rPr>
              <a:t> Consumo moderado.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4906267"/>
            <a:ext cx="41529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Space Grotesk"/>
              </a:rPr>
              <a:t>Formula:</a:t>
            </a:r>
            <a:r>
              <a:rPr b="1" sz="1650" i="0" u="none">
                <a:solidFill>
                  <a:srgbClr val="0F172A"/>
                </a:solidFill>
                <a:latin typeface="Space Grotesk"/>
              </a:rPr>
              <a:t> Coste total f = g + 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5700" y="2881312"/>
            <a:ext cx="45505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Variables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5700" y="3328987"/>
            <a:ext cx="4333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Space Grotesk"/>
              </a:rPr>
              <a:t>g:</a:t>
            </a:r>
            <a:r>
              <a:rPr b="0" sz="1500" i="0" u="none">
                <a:solidFill>
                  <a:srgbClr val="475569"/>
                </a:solidFill>
                <a:latin typeface="Space Grotesk"/>
              </a:rPr>
              <a:t> Movimientos llevados hasta ahora.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5700" y="3729037"/>
            <a:ext cx="43338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475569"/>
                </a:solidFill>
                <a:latin typeface="Space Grotesk"/>
              </a:rPr>
              <a:t>h:</a:t>
            </a:r>
            <a:r>
              <a:rPr b="0" sz="1500" i="0" u="none">
                <a:solidFill>
                  <a:srgbClr val="475569"/>
                </a:solidFill>
                <a:latin typeface="Space Grotesk"/>
              </a:rPr>
              <a:t> Estimacion para terminar.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362551" y="3500437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52500" y="762000"/>
            <a:ext cx="11239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Tablas de heuristica (h)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1400175"/>
            <a:ext cx="1123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64748B"/>
                </a:solidFill>
                <a:latin typeface="Space Grotesk"/>
              </a:rPr>
              <a:t>Las proyecciones que hace el codigo antes de empezar.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291" y="3243262"/>
            <a:ext cx="3893343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3B82F6"/>
                </a:solidFill>
                <a:latin typeface="Space Grotesk"/>
              </a:rPr>
              <a:t>40,320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8291" y="4310062"/>
            <a:ext cx="3893343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Estados de permutacion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291" y="4681537"/>
            <a:ext cx="389334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Space Grotesk"/>
              </a:rPr>
              <a:t>Distancia para ordenar piezas.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91573" y="3243262"/>
            <a:ext cx="3202781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Space Grotesk"/>
              </a:rPr>
              <a:t>2,187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1573" y="4310062"/>
            <a:ext cx="320278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Space Grotesk"/>
              </a:rPr>
              <a:t>Estados de orientacion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91573" y="4681537"/>
            <a:ext cx="32027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Space Grotesk"/>
              </a:rPr>
              <a:t>Distancia para girar esquinas.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2662237"/>
            <a:ext cx="4933950" cy="2628900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67450" y="2643187"/>
            <a:ext cx="4972050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450" y="3119437"/>
            <a:ext cx="40005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2025" y="3119437"/>
            <a:ext cx="3429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-166687" y="762000"/>
            <a:ext cx="12525375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¿Por que MAX y no sumar?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645" y="3805237"/>
            <a:ext cx="527565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Si sumamos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256" y="4300537"/>
            <a:ext cx="502443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475569"/>
                </a:solidFill>
                <a:latin typeface="Space Grotesk"/>
              </a:rPr>
              <a:t>Sobreestimamos los movimientos que faltan y falla el calculo.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5645" y="3805237"/>
            <a:ext cx="527565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Al usar MAX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1256" y="4300537"/>
            <a:ext cx="5024437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475569"/>
                </a:solidFill>
                <a:latin typeface="Space Grotesk"/>
              </a:rPr>
              <a:t>Garantiza cota inferior segura. No se pasa de rosca.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321945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2500" y="398145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2500" y="4743450"/>
            <a:ext cx="457200" cy="457200"/>
          </a:xfrm>
          <a:prstGeom prst="roundRect">
            <a:avLst>
              <a:gd name="adj" fmla="val 16666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0" y="2667000"/>
            <a:ext cx="1524000" cy="152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2500" y="1657350"/>
            <a:ext cx="6750843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Space Grotesk"/>
              </a:rPr>
              <a:t>Filtros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64293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Space Grotesk"/>
              </a:rPr>
              <a:t>Debemos validar todos los datos introducidos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21945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314700"/>
            <a:ext cx="260746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Space Grotesk"/>
              </a:rPr>
              <a:t>Sin piezas repetidas.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98145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38300" y="4076700"/>
            <a:ext cx="2440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Space Grotesk"/>
              </a:rPr>
              <a:t>Colores existentes.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743450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Space Grotes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38300" y="4838700"/>
            <a:ext cx="25241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Space Grotesk"/>
              </a:rPr>
              <a:t>Orden ciclico valido.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3205162"/>
            <a:ext cx="4672012" cy="1543050"/>
          </a:xfrm>
          <a:prstGeom prst="roundRect">
            <a:avLst>
              <a:gd name="adj" fmla="val 98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67487" y="3081337"/>
            <a:ext cx="4672012" cy="1790700"/>
          </a:xfrm>
          <a:prstGeom prst="roundRect">
            <a:avLst>
              <a:gd name="adj" fmla="val 85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12" y="3786187"/>
            <a:ext cx="333375" cy="381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2500" y="762000"/>
            <a:ext cx="11239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Optimizando caminos (Podas)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748" y="3586162"/>
            <a:ext cx="488751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Space Grotesk"/>
              </a:rPr>
              <a:t>R + R = R2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4748" y="4119562"/>
            <a:ext cx="488751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Space Grotesk"/>
              </a:rPr>
              <a:t>Agrupa giros iguales. No repite a lo tonto.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9735" y="3462337"/>
            <a:ext cx="488751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Space Grotesk"/>
              </a:rPr>
              <a:t>U y D conmutan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9735" y="3995737"/>
            <a:ext cx="488751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Space Grotesk"/>
              </a:rPr>
              <a:t>Explora solo un orden para caras opuestas.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733353" y="4352925"/>
            <a:ext cx="4725144" cy="723900"/>
          </a:xfrm>
          <a:prstGeom prst="roundRect">
            <a:avLst>
              <a:gd name="adj" fmla="val 15789"/>
            </a:avLst>
          </a:prstGeom>
          <a:noFill/>
          <a:ln w="1905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781175"/>
            <a:ext cx="609600" cy="60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70496" y="2695575"/>
            <a:ext cx="8051006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Verificacion automatica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1046" y="3600450"/>
            <a:ext cx="6869906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Space Grotesk"/>
              </a:rPr>
              <a:t>El codigo prueva la solucion internamente al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38022" y="4600575"/>
            <a:ext cx="471580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8FAFC"/>
                </a:solidFill>
                <a:latin typeface="monospace"/>
              </a:rPr>
              <a:t>"Verificacion interna: "CORRECTA"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